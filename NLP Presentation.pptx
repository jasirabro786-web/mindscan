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21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0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73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32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06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5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9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61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42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316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14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725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57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785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12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7CD09E-FC75-4B3A-8F6A-583E0205FF9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82664B-AB9C-4294-A5CF-6883BA87F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57163" y="2375553"/>
            <a:ext cx="6086137" cy="895548"/>
          </a:xfrm>
        </p:spPr>
        <p:txBody>
          <a:bodyPr/>
          <a:lstStyle/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MindScan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Mental Illness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everity using Natural Language Processing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3353" y="3544474"/>
            <a:ext cx="4113755" cy="697587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and Multiclass Classification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eddit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Social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666280" y="4421164"/>
            <a:ext cx="4864978" cy="856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Group 06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To: Dr. Syed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Zafi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Shehran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Shah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17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</a:t>
            </a:r>
            <a:r>
              <a:rPr lang="en-US" dirty="0" smtClean="0"/>
              <a:t>roblem </a:t>
            </a:r>
            <a:r>
              <a:rPr lang="en-US" dirty="0"/>
              <a:t>S</a:t>
            </a:r>
            <a:r>
              <a:rPr lang="en-US" dirty="0" smtClean="0"/>
              <a:t>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632347"/>
            <a:ext cx="9601196" cy="1332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Google Sans Flex"/>
              </a:rPr>
              <a:t>Mental health struggles are frequently shared on platforms like </a:t>
            </a:r>
            <a:r>
              <a:rPr lang="en-US" sz="1800" dirty="0" err="1">
                <a:solidFill>
                  <a:schemeClr val="tx1"/>
                </a:solidFill>
                <a:latin typeface="Google Sans Flex"/>
              </a:rPr>
              <a:t>Reddit</a:t>
            </a:r>
            <a:r>
              <a:rPr lang="en-US" sz="1800" dirty="0">
                <a:solidFill>
                  <a:schemeClr val="tx1"/>
                </a:solidFill>
                <a:latin typeface="Google Sans Flex"/>
              </a:rPr>
              <a:t>, but </a:t>
            </a:r>
            <a:r>
              <a:rPr lang="en-US" sz="1800" dirty="0" smtClean="0">
                <a:solidFill>
                  <a:schemeClr val="tx1"/>
                </a:solidFill>
                <a:latin typeface="Google Sans Flex"/>
              </a:rPr>
              <a:t>manu</a:t>
            </a:r>
            <a:r>
              <a:rPr lang="en-US" sz="1800" dirty="0">
                <a:solidFill>
                  <a:schemeClr val="tx1"/>
                </a:solidFill>
                <a:latin typeface="Google Sans Flex"/>
              </a:rPr>
              <a:t>al monitoring is impossible at scale</a:t>
            </a:r>
            <a:r>
              <a:rPr lang="en-US" sz="1800" dirty="0" smtClean="0">
                <a:solidFill>
                  <a:schemeClr val="tx1"/>
                </a:solidFill>
                <a:latin typeface="Google Sans Flex"/>
              </a:rPr>
              <a:t>.</a:t>
            </a:r>
            <a:endParaRPr lang="en-US" sz="1800" b="1" dirty="0">
              <a:solidFill>
                <a:schemeClr val="tx1"/>
              </a:solidFill>
              <a:latin typeface="Google Sans Flex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Google Sans Flex"/>
              </a:rPr>
              <a:t>Goal</a:t>
            </a:r>
            <a:r>
              <a:rPr lang="en-US" sz="1800" b="1" dirty="0">
                <a:solidFill>
                  <a:schemeClr val="tx1"/>
                </a:solidFill>
                <a:latin typeface="Google Sans Flex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Google Sans Flex"/>
              </a:rPr>
              <a:t> To build an automated system that detects the severity of distress to help connect users to support faster</a:t>
            </a:r>
            <a:r>
              <a:rPr lang="en-US" sz="1800" dirty="0" smtClean="0">
                <a:solidFill>
                  <a:schemeClr val="tx1"/>
                </a:solidFill>
                <a:latin typeface="Google Sans Flex"/>
              </a:rPr>
              <a:t>.</a:t>
            </a:r>
            <a:endParaRPr lang="en-US" sz="1800" dirty="0">
              <a:solidFill>
                <a:schemeClr val="tx1"/>
              </a:solidFill>
              <a:latin typeface="Google Sans Flex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95402" y="4087600"/>
            <a:ext cx="93560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oogle Sans Flex"/>
              </a:rPr>
              <a:t>Task </a:t>
            </a:r>
            <a:r>
              <a:rPr lang="en-US" b="1" dirty="0" smtClean="0">
                <a:latin typeface="Google Sans Flex"/>
              </a:rPr>
              <a:t>Objectives</a:t>
            </a:r>
          </a:p>
          <a:p>
            <a:endParaRPr lang="en-US" b="1" dirty="0">
              <a:latin typeface="Google Sans Flex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Google Sans Flex"/>
              </a:rPr>
              <a:t>Task </a:t>
            </a:r>
            <a:r>
              <a:rPr lang="en-US" b="1" dirty="0">
                <a:latin typeface="Google Sans Flex"/>
              </a:rPr>
              <a:t>A (Binary):</a:t>
            </a:r>
            <a:r>
              <a:rPr lang="en-US" dirty="0">
                <a:latin typeface="Google Sans Flex"/>
              </a:rPr>
              <a:t> Classifying posts as "Severe" (1) or "Not Severe" (0</a:t>
            </a:r>
            <a:r>
              <a:rPr lang="en-US" dirty="0" smtClean="0">
                <a:latin typeface="Google Sans Flex"/>
              </a:rPr>
              <a:t>).</a:t>
            </a:r>
          </a:p>
          <a:p>
            <a:pPr lvl="1"/>
            <a:endParaRPr lang="en-US" dirty="0">
              <a:latin typeface="Google Sans Flex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Flex"/>
              </a:rPr>
              <a:t>Task B (Multiclass):</a:t>
            </a:r>
            <a:r>
              <a:rPr lang="en-US" dirty="0">
                <a:latin typeface="Google Sans Flex"/>
              </a:rPr>
              <a:t> Categorizing posts into four levels: None (0), Mild (1), Moderate (2), and Severe (3).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75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/>
            </a:r>
            <a:br>
              <a:rPr lang="en-US" b="1" dirty="0" smtClean="0">
                <a:solidFill>
                  <a:schemeClr val="tx1"/>
                </a:solidFill>
                <a:latin typeface="Google Sans Flex"/>
              </a:rPr>
            </a:br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>Dataset </a:t>
            </a:r>
            <a:r>
              <a:rPr lang="en-US" b="1" dirty="0">
                <a:solidFill>
                  <a:schemeClr val="tx1"/>
                </a:solidFill>
                <a:latin typeface="Google Sans Flex"/>
              </a:rPr>
              <a:t>Breakdown</a:t>
            </a:r>
            <a:br>
              <a:rPr lang="en-US" b="1" dirty="0">
                <a:solidFill>
                  <a:schemeClr val="tx1"/>
                </a:solidFill>
                <a:latin typeface="Google Sans Flex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643819"/>
              </p:ext>
            </p:extLst>
          </p:nvPr>
        </p:nvGraphicFramePr>
        <p:xfrm>
          <a:off x="1295400" y="2557463"/>
          <a:ext cx="9601200" cy="2561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3334709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39623999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00375672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74775518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823453017"/>
                    </a:ext>
                  </a:extLst>
                </a:gridCol>
              </a:tblGrid>
              <a:tr h="853764"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rgbClr val="E3E3E3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E3E3E3"/>
                          </a:solidFill>
                          <a:latin typeface="Google Sans Flex"/>
                        </a:rPr>
                        <a:t>Task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rgbClr val="E3E3E3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E3E3E3"/>
                          </a:solidFill>
                          <a:latin typeface="Google Sans Flex"/>
                        </a:rPr>
                        <a:t>Total Samples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rgbClr val="E3E3E3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E3E3E3"/>
                          </a:solidFill>
                          <a:latin typeface="Google Sans Flex"/>
                        </a:rPr>
                        <a:t>Train (80%)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rgbClr val="E3E3E3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E3E3E3"/>
                          </a:solidFill>
                          <a:latin typeface="Google Sans Flex"/>
                        </a:rPr>
                        <a:t>Val (10%)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rgbClr val="E3E3E3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rgbClr val="E3E3E3"/>
                          </a:solidFill>
                          <a:latin typeface="Google Sans Flex"/>
                        </a:rPr>
                        <a:t>Test (10%)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71013"/>
                  </a:ext>
                </a:extLst>
              </a:tr>
              <a:tr h="853764">
                <a:tc>
                  <a:txBody>
                    <a:bodyPr/>
                    <a:lstStyle/>
                    <a:p>
                      <a:pPr algn="ctr"/>
                      <a:endParaRPr lang="en-US" b="1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Binary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3,263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1,957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653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653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990000"/>
                  </a:ext>
                </a:extLst>
              </a:tr>
              <a:tr h="853764">
                <a:tc>
                  <a:txBody>
                    <a:bodyPr/>
                    <a:lstStyle/>
                    <a:p>
                      <a:pPr algn="ctr"/>
                      <a:endParaRPr lang="en-US" b="1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Multiclass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3,553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2,131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711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solidFill>
                          <a:schemeClr val="tx1"/>
                        </a:solidFill>
                        <a:latin typeface="Google Sans Flex"/>
                      </a:endParaRP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Google Sans Flex"/>
                        </a:rPr>
                        <a:t> 711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5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60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/>
            </a:r>
            <a:br>
              <a:rPr lang="en-US" b="1" dirty="0" smtClean="0">
                <a:solidFill>
                  <a:schemeClr val="tx1"/>
                </a:solidFill>
                <a:latin typeface="Google Sans Flex"/>
              </a:rPr>
            </a:br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Google Sans Flex"/>
              </a:rPr>
              <a:t>Challenge: Class Imbalance</a:t>
            </a:r>
            <a:br>
              <a:rPr lang="en-US" b="1" dirty="0">
                <a:solidFill>
                  <a:schemeClr val="tx1"/>
                </a:solidFill>
                <a:latin typeface="Google Sans Flex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888121"/>
            <a:ext cx="65" cy="656558"/>
          </a:xfrm>
          <a:prstGeom prst="rect">
            <a:avLst/>
          </a:prstGeom>
          <a:solidFill>
            <a:srgbClr val="13131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0784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94618" y="2806599"/>
            <a:ext cx="962578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oogle Sans Flex"/>
              </a:rPr>
              <a:t>Binary Task Imbalance:</a:t>
            </a:r>
          </a:p>
          <a:p>
            <a:r>
              <a:rPr lang="en-US" b="1" dirty="0">
                <a:latin typeface="Google Sans Flex"/>
              </a:rPr>
              <a:t>Not Severe (0):</a:t>
            </a:r>
            <a:r>
              <a:rPr lang="en-US" dirty="0">
                <a:latin typeface="Google Sans Flex"/>
              </a:rPr>
              <a:t> 79.25</a:t>
            </a:r>
            <a:r>
              <a:rPr lang="en-US" dirty="0" smtClean="0">
                <a:latin typeface="Google Sans Flex"/>
              </a:rPr>
              <a:t>% | </a:t>
            </a:r>
            <a:r>
              <a:rPr lang="en-US" b="1" dirty="0" smtClean="0">
                <a:latin typeface="Google Sans Flex"/>
              </a:rPr>
              <a:t>Severe </a:t>
            </a:r>
            <a:r>
              <a:rPr lang="en-US" b="1" dirty="0">
                <a:latin typeface="Google Sans Flex"/>
              </a:rPr>
              <a:t>(1):</a:t>
            </a:r>
            <a:r>
              <a:rPr lang="en-US" dirty="0">
                <a:latin typeface="Google Sans Flex"/>
              </a:rPr>
              <a:t> 20.75</a:t>
            </a:r>
            <a:r>
              <a:rPr lang="en-US" dirty="0" smtClean="0">
                <a:latin typeface="Google Sans Flex"/>
              </a:rPr>
              <a:t>%</a:t>
            </a:r>
          </a:p>
          <a:p>
            <a:endParaRPr lang="en-US" dirty="0">
              <a:latin typeface="Google Sans Flex"/>
            </a:endParaRPr>
          </a:p>
          <a:p>
            <a:r>
              <a:rPr lang="en-US" b="1" dirty="0" err="1" smtClean="0">
                <a:latin typeface="Google Sans Flex"/>
              </a:rPr>
              <a:t>Multilabel</a:t>
            </a:r>
            <a:r>
              <a:rPr lang="en-US" b="1" dirty="0" smtClean="0">
                <a:latin typeface="Google Sans Flex"/>
              </a:rPr>
              <a:t> </a:t>
            </a:r>
            <a:r>
              <a:rPr lang="en-US" b="1" dirty="0">
                <a:latin typeface="Google Sans Flex"/>
              </a:rPr>
              <a:t>Task Imbalance:</a:t>
            </a:r>
          </a:p>
          <a:p>
            <a:r>
              <a:rPr lang="en-US" b="1" dirty="0">
                <a:latin typeface="Google Sans Flex"/>
              </a:rPr>
              <a:t>None (0):</a:t>
            </a:r>
            <a:r>
              <a:rPr lang="en-US" dirty="0">
                <a:latin typeface="Google Sans Flex"/>
              </a:rPr>
              <a:t> 72.78% </a:t>
            </a:r>
            <a:r>
              <a:rPr lang="en-US" dirty="0" smtClean="0">
                <a:latin typeface="Google Sans Flex"/>
              </a:rPr>
              <a:t>| </a:t>
            </a:r>
            <a:r>
              <a:rPr lang="en-US" b="1" dirty="0" smtClean="0">
                <a:latin typeface="Google Sans Flex"/>
              </a:rPr>
              <a:t>Mild </a:t>
            </a:r>
            <a:r>
              <a:rPr lang="en-US" b="1" dirty="0">
                <a:latin typeface="Google Sans Flex"/>
              </a:rPr>
              <a:t>(</a:t>
            </a:r>
            <a:r>
              <a:rPr lang="en-US" b="1" dirty="0" smtClean="0">
                <a:latin typeface="Google Sans Flex"/>
              </a:rPr>
              <a:t>1):</a:t>
            </a:r>
            <a:r>
              <a:rPr lang="en-US" dirty="0" smtClean="0">
                <a:latin typeface="Google Sans Flex"/>
              </a:rPr>
              <a:t> 8.16</a:t>
            </a:r>
            <a:r>
              <a:rPr lang="en-US" dirty="0">
                <a:latin typeface="Google Sans Flex"/>
              </a:rPr>
              <a:t>% </a:t>
            </a:r>
            <a:r>
              <a:rPr lang="en-US" dirty="0" smtClean="0">
                <a:latin typeface="Google Sans Flex"/>
              </a:rPr>
              <a:t> | </a:t>
            </a:r>
            <a:r>
              <a:rPr lang="en-US" b="1" dirty="0" smtClean="0">
                <a:latin typeface="Google Sans Flex"/>
              </a:rPr>
              <a:t>Moderate </a:t>
            </a:r>
            <a:r>
              <a:rPr lang="en-US" b="1" dirty="0">
                <a:latin typeface="Google Sans Flex"/>
              </a:rPr>
              <a:t>(2):</a:t>
            </a:r>
            <a:r>
              <a:rPr lang="en-US" dirty="0">
                <a:latin typeface="Google Sans Flex"/>
              </a:rPr>
              <a:t> 11.07% </a:t>
            </a:r>
            <a:r>
              <a:rPr lang="en-US" dirty="0" smtClean="0">
                <a:latin typeface="Google Sans Flex"/>
              </a:rPr>
              <a:t> | </a:t>
            </a:r>
            <a:r>
              <a:rPr lang="en-US" b="1" dirty="0" smtClean="0">
                <a:latin typeface="Google Sans Flex"/>
              </a:rPr>
              <a:t>Severe </a:t>
            </a:r>
            <a:r>
              <a:rPr lang="en-US" b="1" dirty="0">
                <a:latin typeface="Google Sans Flex"/>
              </a:rPr>
              <a:t>(3):</a:t>
            </a:r>
            <a:r>
              <a:rPr lang="en-US" dirty="0">
                <a:latin typeface="Google Sans Flex"/>
              </a:rPr>
              <a:t> 7.98%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Google Sans Flex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Flex"/>
              </a:rPr>
              <a:t>Explanation:</a:t>
            </a:r>
            <a:r>
              <a:rPr lang="en-US" altLang="en-US" dirty="0">
                <a:latin typeface="Google Sans Flex"/>
              </a:rPr>
              <a:t> Imbalance is a problem because models tend to ignore minority classes to get high accuracy.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 smtClean="0">
              <a:latin typeface="Google Sans Flex"/>
            </a:endParaRPr>
          </a:p>
          <a:p>
            <a:r>
              <a:rPr lang="en-US" altLang="en-US" b="1" dirty="0" smtClean="0">
                <a:latin typeface="Google Sans Flex"/>
              </a:rPr>
              <a:t>Our </a:t>
            </a:r>
            <a:r>
              <a:rPr lang="en-US" altLang="en-US" b="1" dirty="0">
                <a:latin typeface="Google Sans Flex"/>
              </a:rPr>
              <a:t>Solution:</a:t>
            </a:r>
            <a:r>
              <a:rPr lang="en-US" altLang="en-US" dirty="0">
                <a:latin typeface="Google Sans Flex"/>
              </a:rPr>
              <a:t> We used </a:t>
            </a:r>
            <a:r>
              <a:rPr lang="en-US" altLang="en-US" sz="1200" dirty="0" err="1">
                <a:latin typeface="Google Sans Mono"/>
              </a:rPr>
              <a:t>class_weight</a:t>
            </a:r>
            <a:r>
              <a:rPr lang="en-US" altLang="en-US" sz="1200" dirty="0">
                <a:latin typeface="Google Sans Mono"/>
              </a:rPr>
              <a:t>='balanced'</a:t>
            </a:r>
            <a:r>
              <a:rPr lang="en-US" altLang="en-US" dirty="0">
                <a:latin typeface="Google Sans Flex"/>
              </a:rPr>
              <a:t> in our models to force the AI to pay equal attention to severe cases</a:t>
            </a:r>
            <a:r>
              <a:rPr lang="en-US" altLang="en-US" dirty="0" smtClean="0">
                <a:latin typeface="Google Sans Flex"/>
              </a:rPr>
              <a:t>.</a:t>
            </a:r>
            <a:endParaRPr lang="en-US" b="1" dirty="0">
              <a:solidFill>
                <a:srgbClr val="E3E3E3"/>
              </a:solidFill>
              <a:latin typeface="Google Sans Flex"/>
            </a:endParaRPr>
          </a:p>
        </p:txBody>
      </p:sp>
    </p:spTree>
    <p:extLst>
      <p:ext uri="{BB962C8B-B14F-4D97-AF65-F5344CB8AC3E}">
        <p14:creationId xmlns:p14="http://schemas.microsoft.com/office/powerpoint/2010/main" val="285583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/>
            </a:r>
            <a:br>
              <a:rPr lang="en-US" b="1" dirty="0" smtClean="0">
                <a:solidFill>
                  <a:schemeClr val="tx1"/>
                </a:solidFill>
                <a:latin typeface="Google Sans Flex"/>
              </a:rPr>
            </a:br>
            <a:r>
              <a:rPr lang="en-US" b="1" dirty="0" smtClean="0">
                <a:solidFill>
                  <a:schemeClr val="tx1"/>
                </a:solidFill>
                <a:latin typeface="Google Sans Flex"/>
              </a:rPr>
              <a:t>The </a:t>
            </a:r>
            <a:r>
              <a:rPr lang="en-US" b="1" dirty="0">
                <a:solidFill>
                  <a:schemeClr val="tx1"/>
                </a:solidFill>
                <a:latin typeface="Google Sans Flex"/>
              </a:rPr>
              <a:t>Challenge: Class Imbalance</a:t>
            </a:r>
            <a:br>
              <a:rPr lang="en-US" b="1" dirty="0">
                <a:solidFill>
                  <a:schemeClr val="tx1"/>
                </a:solidFill>
                <a:latin typeface="Google Sans Flex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02" y="2681630"/>
            <a:ext cx="4603424" cy="28771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174" y="2681630"/>
            <a:ext cx="4603424" cy="2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0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Visualizing the Language (Word Clouds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Word </a:t>
            </a:r>
            <a:r>
              <a:rPr lang="en-US" dirty="0"/>
              <a:t>clouds help identify the most frequent emotional markers in each category.</a:t>
            </a:r>
          </a:p>
          <a:p>
            <a:r>
              <a:rPr lang="en-US" b="1" dirty="0"/>
              <a:t>Not Severe / None:</a:t>
            </a:r>
            <a:r>
              <a:rPr lang="en-US" dirty="0"/>
              <a:t> Words like "know," "think," "really," and "year" are common.</a:t>
            </a:r>
          </a:p>
          <a:p>
            <a:r>
              <a:rPr lang="en-US" b="1" dirty="0"/>
              <a:t>Severe:</a:t>
            </a:r>
            <a:r>
              <a:rPr lang="en-US" dirty="0"/>
              <a:t> You will notice more frequent mentions of "anxiety," "feel," "never," "attack," and "help"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8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Word Cloud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3" y="2650305"/>
            <a:ext cx="5453601" cy="27268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777" y="2650305"/>
            <a:ext cx="5453602" cy="27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8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553" y="1220338"/>
            <a:ext cx="5223385" cy="75817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Multilabel</a:t>
            </a:r>
            <a:r>
              <a:rPr lang="en-US" dirty="0"/>
              <a:t> Word </a:t>
            </a:r>
            <a:r>
              <a:rPr lang="en-US" dirty="0" smtClean="0"/>
              <a:t>Clouds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56" y="1942200"/>
            <a:ext cx="4227530" cy="21137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32"/>
          <a:stretch/>
        </p:blipFill>
        <p:spPr>
          <a:xfrm>
            <a:off x="6407730" y="4055967"/>
            <a:ext cx="4510074" cy="21280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56" y="4055966"/>
            <a:ext cx="4227530" cy="21137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730" y="1931381"/>
            <a:ext cx="4510074" cy="225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40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Unigram &amp; Bigram </a:t>
            </a:r>
            <a:r>
              <a:rPr lang="en-US" altLang="en-US" b="1" dirty="0" smtClean="0">
                <a:ln>
                  <a:noFill/>
                </a:ln>
                <a:solidFill>
                  <a:schemeClr val="tx1"/>
                </a:solidFill>
                <a:latin typeface="Google Sans Text"/>
              </a:rPr>
              <a:t>Analysis</a:t>
            </a:r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70085" y="2567058"/>
            <a:ext cx="777318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Unigrams (single words) and Bigrams (two-word phrases) provide a deeper look at the context.</a:t>
            </a:r>
            <a:endParaRPr kumimoji="0" lang="en-US" altLang="en-US" sz="5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725548"/>
              </p:ext>
            </p:extLst>
          </p:nvPr>
        </p:nvGraphicFramePr>
        <p:xfrm>
          <a:off x="1570085" y="3463670"/>
          <a:ext cx="8127999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46056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380352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29250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Task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Category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Key Bigrams (Phrases)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85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>
                        <a:effectLst/>
                        <a:latin typeface="Google Sans Text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Binary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>
                        <a:effectLst/>
                        <a:latin typeface="Google Sans Text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Severe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effectLst/>
                          <a:latin typeface="Google Sans Text"/>
                        </a:rPr>
                        <a:t>"panic attack," "mental health," "feel like," "don’t know"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09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>
                        <a:effectLst/>
                        <a:latin typeface="Google Sans Text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effectLst/>
                          <a:latin typeface="Google Sans Text"/>
                        </a:rPr>
                        <a:t>Multilabel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 smtClean="0">
                        <a:effectLst/>
                        <a:latin typeface="Google Sans Text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effectLst/>
                          <a:latin typeface="Google Sans Text"/>
                        </a:rPr>
                        <a:t>Severe</a:t>
                      </a:r>
                      <a:endParaRPr lang="en-US" dirty="0" smtClean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  <a:latin typeface="Google Sans Text"/>
                        </a:rPr>
                        <a:t>"suicidal thoughts," "hospital," "mental illness," "worst part"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623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Unigram per Binary Class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93" y="2627547"/>
            <a:ext cx="5094691" cy="305681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850" y="2627546"/>
            <a:ext cx="5094693" cy="305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9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</a:t>
            </a:r>
            <a:r>
              <a:rPr lang="en-US" dirty="0" smtClean="0"/>
              <a:t>Bigram </a:t>
            </a:r>
            <a:r>
              <a:rPr lang="en-US" dirty="0"/>
              <a:t>per Binary Class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940" y="2556932"/>
            <a:ext cx="5218370" cy="31310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89" y="2556932"/>
            <a:ext cx="5165251" cy="309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549" y="-15907"/>
            <a:ext cx="6855645" cy="595185"/>
          </a:xfrm>
        </p:spPr>
        <p:txBody>
          <a:bodyPr>
            <a:normAutofit fontScale="90000"/>
          </a:bodyPr>
          <a:lstStyle/>
          <a:p>
            <a:r>
              <a:rPr lang="en-US" dirty="0"/>
              <a:t>Top Unigram per </a:t>
            </a:r>
            <a:r>
              <a:rPr lang="en-US" dirty="0" err="1" smtClean="0"/>
              <a:t>Multilabel</a:t>
            </a:r>
            <a:r>
              <a:rPr lang="en-US" dirty="0" smtClean="0"/>
              <a:t> </a:t>
            </a:r>
            <a:r>
              <a:rPr lang="en-US" dirty="0"/>
              <a:t>Class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97" y="707011"/>
            <a:ext cx="4351059" cy="2610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0" r="6819"/>
          <a:stretch/>
        </p:blipFill>
        <p:spPr>
          <a:xfrm>
            <a:off x="6628222" y="3445379"/>
            <a:ext cx="4306871" cy="26124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697" y="3445379"/>
            <a:ext cx="4354006" cy="2612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3" r="6108"/>
          <a:stretch/>
        </p:blipFill>
        <p:spPr>
          <a:xfrm>
            <a:off x="6599942" y="707011"/>
            <a:ext cx="4335151" cy="26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42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0261" y="56834"/>
            <a:ext cx="6538272" cy="450741"/>
          </a:xfrm>
        </p:spPr>
        <p:txBody>
          <a:bodyPr>
            <a:normAutofit fontScale="90000"/>
          </a:bodyPr>
          <a:lstStyle/>
          <a:p>
            <a:r>
              <a:rPr lang="en-US" dirty="0"/>
              <a:t>Top B</a:t>
            </a:r>
            <a:r>
              <a:rPr lang="en-US" dirty="0" smtClean="0"/>
              <a:t>igram </a:t>
            </a:r>
            <a:r>
              <a:rPr lang="en-US" dirty="0"/>
              <a:t>per </a:t>
            </a:r>
            <a:r>
              <a:rPr lang="en-US" dirty="0" err="1"/>
              <a:t>Multilabel</a:t>
            </a:r>
            <a:r>
              <a:rPr lang="en-US" dirty="0"/>
              <a:t> Class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480" y="699664"/>
            <a:ext cx="4356703" cy="26140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068" y="699664"/>
            <a:ext cx="4356703" cy="2614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480" y="3505775"/>
            <a:ext cx="4356703" cy="26140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068" y="3505775"/>
            <a:ext cx="4356703" cy="261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06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Word Count Distribution by Severity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5" r="7761"/>
          <a:stretch/>
        </p:blipFill>
        <p:spPr>
          <a:xfrm>
            <a:off x="970960" y="2210975"/>
            <a:ext cx="5052767" cy="28645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1" r="6239"/>
          <a:stretch/>
        </p:blipFill>
        <p:spPr>
          <a:xfrm>
            <a:off x="6074005" y="2285999"/>
            <a:ext cx="5147035" cy="2864569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33181" y="5150568"/>
            <a:ext cx="99256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posts are between 50-200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Severe posts tend to be longer and contain more descriptive emotional narrative.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Longer posts often contain more "context clues" for the model to learn from</a:t>
            </a:r>
          </a:p>
        </p:txBody>
      </p:sp>
    </p:spTree>
    <p:extLst>
      <p:ext uri="{BB962C8B-B14F-4D97-AF65-F5344CB8AC3E}">
        <p14:creationId xmlns:p14="http://schemas.microsoft.com/office/powerpoint/2010/main" val="339443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—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Text:</a:t>
            </a:r>
            <a:r>
              <a:rPr lang="en-US" dirty="0"/>
              <a:t> We tested four different models for every task to find the best balance of speed and F1-Score:</a:t>
            </a:r>
          </a:p>
          <a:p>
            <a:pPr lvl="1"/>
            <a:r>
              <a:rPr lang="en-US" b="1" dirty="0"/>
              <a:t>Logistic Regression:</a:t>
            </a:r>
            <a:r>
              <a:rPr lang="en-US" dirty="0"/>
              <a:t> Best for interpretability.</a:t>
            </a:r>
          </a:p>
          <a:p>
            <a:pPr lvl="1"/>
            <a:r>
              <a:rPr lang="en-US" b="1" dirty="0"/>
              <a:t>Linear SVM:</a:t>
            </a:r>
            <a:r>
              <a:rPr lang="en-US" dirty="0"/>
              <a:t> Excellent for high-dimensional text data.</a:t>
            </a:r>
          </a:p>
          <a:p>
            <a:pPr lvl="1"/>
            <a:r>
              <a:rPr lang="en-US" b="1" dirty="0"/>
              <a:t>Random Forest:</a:t>
            </a:r>
            <a:r>
              <a:rPr lang="en-US" dirty="0"/>
              <a:t> Handles non-linear patterns.</a:t>
            </a:r>
          </a:p>
          <a:p>
            <a:pPr lvl="1"/>
            <a:r>
              <a:rPr lang="en-US" b="1" dirty="0"/>
              <a:t>Naive Bayes:</a:t>
            </a:r>
            <a:r>
              <a:rPr lang="en-US" dirty="0"/>
              <a:t> A classic baseline for text classification.</a:t>
            </a:r>
          </a:p>
          <a:p>
            <a:r>
              <a:rPr lang="en-US" b="1" dirty="0"/>
              <a:t>Explanation:</a:t>
            </a:r>
            <a:r>
              <a:rPr lang="en-US" dirty="0"/>
              <a:t> We prioritized the </a:t>
            </a:r>
            <a:r>
              <a:rPr lang="en-US" b="1" dirty="0"/>
              <a:t>Weighted F1-Score</a:t>
            </a:r>
            <a:r>
              <a:rPr lang="en-US" dirty="0"/>
              <a:t> because it accounts for the class imbalance better than accuracy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40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2981" y="105441"/>
            <a:ext cx="6340702" cy="394180"/>
          </a:xfrm>
        </p:spPr>
        <p:txBody>
          <a:bodyPr>
            <a:noAutofit/>
          </a:bodyPr>
          <a:lstStyle/>
          <a:p>
            <a:r>
              <a:rPr lang="en-US" sz="2400" b="1" dirty="0"/>
              <a:t>Binary Task </a:t>
            </a:r>
            <a:r>
              <a:rPr lang="en-US" sz="2400" b="1" dirty="0" smtClean="0"/>
              <a:t>Results </a:t>
            </a:r>
            <a:r>
              <a:rPr lang="en-US" sz="2400" b="1" dirty="0"/>
              <a:t>&amp; </a:t>
            </a:r>
            <a:r>
              <a:rPr lang="en-US" sz="2400" b="1" dirty="0" err="1"/>
              <a:t>Multilabel</a:t>
            </a:r>
            <a:r>
              <a:rPr lang="en-US" sz="2400" b="1" dirty="0"/>
              <a:t> Task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34222"/>
              </p:ext>
            </p:extLst>
          </p:nvPr>
        </p:nvGraphicFramePr>
        <p:xfrm>
          <a:off x="1344892" y="1033006"/>
          <a:ext cx="9502218" cy="214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406">
                  <a:extLst>
                    <a:ext uri="{9D8B030D-6E8A-4147-A177-3AD203B41FA5}">
                      <a16:colId xmlns:a16="http://schemas.microsoft.com/office/drawing/2014/main" val="1247753150"/>
                    </a:ext>
                  </a:extLst>
                </a:gridCol>
                <a:gridCol w="3167406">
                  <a:extLst>
                    <a:ext uri="{9D8B030D-6E8A-4147-A177-3AD203B41FA5}">
                      <a16:colId xmlns:a16="http://schemas.microsoft.com/office/drawing/2014/main" val="3899981437"/>
                    </a:ext>
                  </a:extLst>
                </a:gridCol>
                <a:gridCol w="3167406">
                  <a:extLst>
                    <a:ext uri="{9D8B030D-6E8A-4147-A177-3AD203B41FA5}">
                      <a16:colId xmlns:a16="http://schemas.microsoft.com/office/drawing/2014/main" val="1844117915"/>
                    </a:ext>
                  </a:extLst>
                </a:gridCol>
              </a:tblGrid>
              <a:tr h="429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dirty="0" smtClean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en-US" dirty="0" smtClean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Weighted F1-Score</a:t>
                      </a:r>
                      <a:endParaRPr lang="en-US" dirty="0" smtClean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7411"/>
                  </a:ext>
                </a:extLst>
              </a:tr>
              <a:tr h="429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Logistic Regression</a:t>
                      </a:r>
                      <a:endParaRPr lang="en-US" dirty="0" smtClean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0.7902</a:t>
                      </a:r>
                      <a:endParaRPr lang="en-US" dirty="0" smtClean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77078"/>
                  </a:ext>
                </a:extLst>
              </a:tr>
              <a:tr h="429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77.03%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54313"/>
                  </a:ext>
                </a:extLst>
              </a:tr>
              <a:tr h="429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516694"/>
                  </a:ext>
                </a:extLst>
              </a:tr>
              <a:tr h="42921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79.33%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4206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232814"/>
              </p:ext>
            </p:extLst>
          </p:nvPr>
        </p:nvGraphicFramePr>
        <p:xfrm>
          <a:off x="1344892" y="3712471"/>
          <a:ext cx="9502218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406">
                  <a:extLst>
                    <a:ext uri="{9D8B030D-6E8A-4147-A177-3AD203B41FA5}">
                      <a16:colId xmlns:a16="http://schemas.microsoft.com/office/drawing/2014/main" val="2412565811"/>
                    </a:ext>
                  </a:extLst>
                </a:gridCol>
                <a:gridCol w="3167406">
                  <a:extLst>
                    <a:ext uri="{9D8B030D-6E8A-4147-A177-3AD203B41FA5}">
                      <a16:colId xmlns:a16="http://schemas.microsoft.com/office/drawing/2014/main" val="2070538743"/>
                    </a:ext>
                  </a:extLst>
                </a:gridCol>
                <a:gridCol w="3167406">
                  <a:extLst>
                    <a:ext uri="{9D8B030D-6E8A-4147-A177-3AD203B41FA5}">
                      <a16:colId xmlns:a16="http://schemas.microsoft.com/office/drawing/2014/main" val="1176490255"/>
                    </a:ext>
                  </a:extLst>
                </a:gridCol>
              </a:tblGrid>
              <a:tr h="41979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Weighted F1-Score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459628319"/>
                  </a:ext>
                </a:extLst>
              </a:tr>
              <a:tr h="41979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Logistic Regression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65.68%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0.6732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055639458"/>
                  </a:ext>
                </a:extLst>
              </a:tr>
              <a:tr h="41979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SVM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69.76%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0.6749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309654117"/>
                  </a:ext>
                </a:extLst>
              </a:tr>
              <a:tr h="41979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72.85%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0.6172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065618450"/>
                  </a:ext>
                </a:extLst>
              </a:tr>
              <a:tr h="41979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Naive Bayes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72.86%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0.6141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60759902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44892" y="3343139"/>
            <a:ext cx="3762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Multilabel</a:t>
            </a:r>
            <a:r>
              <a:rPr lang="en-US" b="1" dirty="0"/>
              <a:t> Task Results (Validation):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892" y="694820"/>
            <a:ext cx="3423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Binary Task Results (Validation):</a:t>
            </a:r>
          </a:p>
        </p:txBody>
      </p:sp>
    </p:spTree>
    <p:extLst>
      <p:ext uri="{BB962C8B-B14F-4D97-AF65-F5344CB8AC3E}">
        <p14:creationId xmlns:p14="http://schemas.microsoft.com/office/powerpoint/2010/main" val="1796564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— Performance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727872"/>
              </p:ext>
            </p:extLst>
          </p:nvPr>
        </p:nvGraphicFramePr>
        <p:xfrm>
          <a:off x="1730340" y="2671013"/>
          <a:ext cx="8950228" cy="2164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557">
                  <a:extLst>
                    <a:ext uri="{9D8B030D-6E8A-4147-A177-3AD203B41FA5}">
                      <a16:colId xmlns:a16="http://schemas.microsoft.com/office/drawing/2014/main" val="2907062789"/>
                    </a:ext>
                  </a:extLst>
                </a:gridCol>
                <a:gridCol w="2237557">
                  <a:extLst>
                    <a:ext uri="{9D8B030D-6E8A-4147-A177-3AD203B41FA5}">
                      <a16:colId xmlns:a16="http://schemas.microsoft.com/office/drawing/2014/main" val="4252695194"/>
                    </a:ext>
                  </a:extLst>
                </a:gridCol>
                <a:gridCol w="2237557">
                  <a:extLst>
                    <a:ext uri="{9D8B030D-6E8A-4147-A177-3AD203B41FA5}">
                      <a16:colId xmlns:a16="http://schemas.microsoft.com/office/drawing/2014/main" val="677678327"/>
                    </a:ext>
                  </a:extLst>
                </a:gridCol>
                <a:gridCol w="2237557">
                  <a:extLst>
                    <a:ext uri="{9D8B030D-6E8A-4147-A177-3AD203B41FA5}">
                      <a16:colId xmlns:a16="http://schemas.microsoft.com/office/drawing/2014/main" val="2022593691"/>
                    </a:ext>
                  </a:extLst>
                </a:gridCol>
              </a:tblGrid>
              <a:tr h="58103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Task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Champion Model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Weighted F1-Score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40136"/>
                  </a:ext>
                </a:extLst>
              </a:tr>
              <a:tr h="1002875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78.25%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0.7902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07997"/>
                  </a:ext>
                </a:extLst>
              </a:tr>
              <a:tr h="58103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Multiclass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Linear SVM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69.76%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0.6749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936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254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147</TotalTime>
  <Words>613</Words>
  <Application>Microsoft Office PowerPoint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Garamond</vt:lpstr>
      <vt:lpstr>Google Sans Flex</vt:lpstr>
      <vt:lpstr>Google Sans Mono</vt:lpstr>
      <vt:lpstr>Google Sans Text</vt:lpstr>
      <vt:lpstr>Times New Roman</vt:lpstr>
      <vt:lpstr>Organic</vt:lpstr>
      <vt:lpstr>MindScan: Identifying Mental Illness Severity using Natural Language Processing</vt:lpstr>
      <vt:lpstr>The Problem Statement</vt:lpstr>
      <vt:lpstr> Dataset Breakdown </vt:lpstr>
      <vt:lpstr> The Challenge: Class Imbalance </vt:lpstr>
      <vt:lpstr> The Challenge: Class Imbalance </vt:lpstr>
      <vt:lpstr>Visualizing the Language (Word Clouds)</vt:lpstr>
      <vt:lpstr>Binary Word Cloud</vt:lpstr>
      <vt:lpstr>Multilabel Word Clouds</vt:lpstr>
      <vt:lpstr>Unigram &amp; Bigram Analysis</vt:lpstr>
      <vt:lpstr>Top Unigram per Binary Class</vt:lpstr>
      <vt:lpstr>Top Bigram per Binary Class</vt:lpstr>
      <vt:lpstr>Top Unigram per Multilabel Class</vt:lpstr>
      <vt:lpstr>Top Bigram per Multilabel Class</vt:lpstr>
      <vt:lpstr>Word Count Distribution by Severity</vt:lpstr>
      <vt:lpstr>Methodology — Model Selection</vt:lpstr>
      <vt:lpstr>Binary Task Results &amp; Multilabel Task Results</vt:lpstr>
      <vt:lpstr>Results — Performance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JASIR</dc:creator>
  <cp:lastModifiedBy>JASIR</cp:lastModifiedBy>
  <cp:revision>16</cp:revision>
  <dcterms:created xsi:type="dcterms:W3CDTF">2026-04-13T06:48:45Z</dcterms:created>
  <dcterms:modified xsi:type="dcterms:W3CDTF">2026-04-13T09:16:12Z</dcterms:modified>
</cp:coreProperties>
</file>